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5" r:id="rId11"/>
    <p:sldId id="266" r:id="rId12"/>
    <p:sldId id="267" r:id="rId13"/>
    <p:sldId id="264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F4E066-0CA6-AF0F-8205-529A047EFD48}" v="347" dt="2026-08-02T11:15:19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4FB05-F851-482C-94CA-4C6D4D10A5D2}" type="datetimeFigureOut">
              <a:t>8/2/2026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8CE301-995B-480E-8B17-2E54C6C8188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1420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visitors; introduce the team and the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gap: rich feedback exists but students can't act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AI model as the core idea: a living academic profile per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four-step pipeline behind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four concrete deliverables students would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emotional hook slide -- lean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the compliance-minded audience directly: privacy, ethics, human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what ships first from what's exploratory.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FD68-866C-21C8-C88B-4E46D7D2E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6E2658-4777-1A6E-EDF8-16A8A606E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02BE4D-BCAD-3B23-C521-CE413AAEC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what ships first from what's exploratory.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7112C-353D-A77B-B426-B3B66F2A6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01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2DB56-637F-F1B7-DDC5-4D9B2F7CD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46EF8-0A9D-5F63-B83A-32426D294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606D5-AF8A-1F0A-4DFF-D06512CD2D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what ships first from what's exploratory.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D993C-0E39-B4FE-3072-AA51B6992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330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003A-A9BB-3638-424A-01E5309B0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0BA7D-9BF3-D7ED-21D8-9BCC99F48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2005E-7339-C550-08B0-88C0E99A0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what ships first from what's exploratory.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F7212-EE26-CEA0-1515-386A92361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710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8C9F-159D-6133-92E2-6BBD2DDC1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32187-C9D9-E1BC-C7ED-CC6DA903C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E9BC52-5AE1-3C61-3EF1-DC8A1E109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what ships first from what's exploratory.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3F7EC-D0FB-EA55-31C5-0325771DB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530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CTA -- direct people to the demo / booth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10667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4267"/>
            </a:lvl1pPr>
            <a:lvl2pPr marL="812810" indent="0" algn="ctr">
              <a:buNone/>
              <a:defRPr sz="3556"/>
            </a:lvl2pPr>
            <a:lvl3pPr marL="1625620" indent="0" algn="ctr">
              <a:buNone/>
              <a:defRPr sz="3200"/>
            </a:lvl3pPr>
            <a:lvl4pPr marL="2438430" indent="0" algn="ctr">
              <a:buNone/>
              <a:defRPr sz="2844"/>
            </a:lvl4pPr>
            <a:lvl5pPr marL="3251241" indent="0" algn="ctr">
              <a:buNone/>
              <a:defRPr sz="2844"/>
            </a:lvl5pPr>
            <a:lvl6pPr marL="4064051" indent="0" algn="ctr">
              <a:buNone/>
              <a:defRPr sz="2844"/>
            </a:lvl6pPr>
            <a:lvl7pPr marL="4876861" indent="0" algn="ctr">
              <a:buNone/>
              <a:defRPr sz="2844"/>
            </a:lvl7pPr>
            <a:lvl8pPr marL="5689671" indent="0" algn="ctr">
              <a:buNone/>
              <a:defRPr sz="2844"/>
            </a:lvl8pPr>
            <a:lvl9pPr marL="6502481" indent="0" algn="ctr">
              <a:buNone/>
              <a:defRPr sz="2844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99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02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10667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37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980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841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24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930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43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295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3610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126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753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8/2/2026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24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53B80">
                  <a:alpha val="100000"/>
                </a:srgbClr>
              </a:gs>
              <a:gs pos="60000">
                <a:srgbClr val="262A60">
                  <a:alpha val="100000"/>
                </a:srgbClr>
              </a:gs>
            </a:gsLst>
            <a:path path="circle">
              <a:fillToRect l="15000" t="10000" r="85000" b="9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1428750" y="3524607"/>
            <a:ext cx="190500" cy="1905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14500" y="3524607"/>
            <a:ext cx="398574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TRADE SHOW 2026 · PROJECT PROPOSAL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28750" y="3985617"/>
            <a:ext cx="12049125" cy="955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615"/>
              </a:lnSpc>
              <a:buNone/>
            </a:pPr>
            <a:r>
              <a:rPr lang="en-US" sz="6450" kern="0" spc="-97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Journey Assistant</a:t>
            </a:r>
            <a:endParaRPr lang="en-US" sz="6450" dirty="0"/>
          </a:p>
        </p:txBody>
      </p:sp>
      <p:sp>
        <p:nvSpPr>
          <p:cNvPr id="6" name="Text 4"/>
          <p:cNvSpPr/>
          <p:nvPr/>
        </p:nvSpPr>
        <p:spPr>
          <a:xfrm>
            <a:off x="1428750" y="5169694"/>
            <a:ext cx="882967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AI system that turns every student's marked assessments and feedback into a clear, personalised path to improve.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428750" y="6312694"/>
            <a:ext cx="2325291" cy="472440"/>
          </a:xfrm>
          <a:prstGeom prst="roundRect">
            <a:avLst>
              <a:gd name="adj" fmla="val 16129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5920" y="6434614"/>
            <a:ext cx="228600" cy="2286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6457474"/>
            <a:ext cx="168140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us for a live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87391" y="6361748"/>
            <a:ext cx="2201585" cy="374332"/>
          </a:xfrm>
          <a:prstGeom prst="roundRect">
            <a:avLst>
              <a:gd name="adj" fmla="val 15267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47411" y="6468428"/>
            <a:ext cx="45922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050" kern="0" spc="21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30435" y="6445568"/>
            <a:ext cx="217170" cy="2447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050" kern="0" spc="21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1405" y="6468428"/>
            <a:ext cx="1433751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050" kern="0" spc="21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La Trobe University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2753975" cy="123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235"/>
              </a:lnSpc>
              <a:buNone/>
            </a:pPr>
            <a:r>
              <a:rPr lang="en-US" sz="4200" kern="0" spc="-63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get feedback. They rarely get a next step.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428750" y="2783443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28750" y="3326368"/>
            <a:ext cx="4940261" cy="6008132"/>
          </a:xfrm>
          <a:prstGeom prst="roundRect">
            <a:avLst>
              <a:gd name="adj" fmla="val 1542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1650" y="3669268"/>
            <a:ext cx="323850" cy="3238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71650" y="4179808"/>
            <a:ext cx="46799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Mastery is unclear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71650" y="4507468"/>
            <a:ext cx="4382094" cy="4522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683"/>
              </a:lnSpc>
              <a:buNone/>
            </a:pPr>
            <a:r>
              <a:rPr lang="en-US" sz="127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can't tell how close they are to genuinely understanding a topic, only their last grade.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6673811" y="3326368"/>
            <a:ext cx="4940261" cy="6008132"/>
          </a:xfrm>
          <a:prstGeom prst="roundRect">
            <a:avLst>
              <a:gd name="adj" fmla="val 1542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016711" y="3669268"/>
            <a:ext cx="323850" cy="3238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6711" y="4179808"/>
            <a:ext cx="46799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Moodle data sits idle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16711" y="4507468"/>
            <a:ext cx="4382094" cy="4522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683"/>
              </a:lnSpc>
              <a:buNone/>
            </a:pPr>
            <a:r>
              <a:rPr lang="en-US" sz="127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outcomes, rubrics and results already exist — but nothing connects them into guidance.</a:t>
            </a:r>
            <a:endParaRPr lang="en-US" sz="1275" dirty="0"/>
          </a:p>
        </p:txBody>
      </p:sp>
      <p:sp>
        <p:nvSpPr>
          <p:cNvPr id="13" name="Shape 11"/>
          <p:cNvSpPr/>
          <p:nvPr/>
        </p:nvSpPr>
        <p:spPr>
          <a:xfrm>
            <a:off x="11918871" y="3326368"/>
            <a:ext cx="4940261" cy="6008132"/>
          </a:xfrm>
          <a:prstGeom prst="roundRect">
            <a:avLst>
              <a:gd name="adj" fmla="val 1542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2261771" y="3669268"/>
            <a:ext cx="323850" cy="3238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61771" y="4179808"/>
            <a:ext cx="467990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studies blind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261771" y="4507468"/>
            <a:ext cx="4382094" cy="4522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683"/>
              </a:lnSpc>
              <a:buNone/>
            </a:pPr>
            <a:r>
              <a:rPr lang="en-US" sz="127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a structured feedback loop, students re-study everything instead of what actually needs work.</a:t>
            </a:r>
            <a:endParaRPr lang="en-US" sz="12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1282363" cy="1228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796"/>
              </a:lnSpc>
              <a:buNone/>
            </a:pPr>
            <a:r>
              <a:rPr lang="en-US" sz="3750" kern="0" spc="-56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dynamic AI model of each student's academic profile — built from real subject data.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1428750" y="5388054"/>
            <a:ext cx="4772620" cy="1642586"/>
          </a:xfrm>
          <a:prstGeom prst="roundRect">
            <a:avLst>
              <a:gd name="adj" fmla="val 4639"/>
            </a:avLst>
          </a:prstGeom>
          <a:solidFill>
            <a:srgbClr val="232532"/>
          </a:solidFill>
          <a:ln/>
        </p:spPr>
      </p:sp>
      <p:sp>
        <p:nvSpPr>
          <p:cNvPr id="5" name="Shape 3"/>
          <p:cNvSpPr/>
          <p:nvPr/>
        </p:nvSpPr>
        <p:spPr>
          <a:xfrm>
            <a:off x="1771650" y="5730954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71650" y="6184345"/>
            <a:ext cx="44955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Moodle Data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71650" y="6466284"/>
            <a:ext cx="4495502" cy="2595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359"/>
              </a:lnSpc>
              <a:buNone/>
            </a:pPr>
            <a:r>
              <a:rPr lang="en-US" sz="112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Subjects, rubrics, assessment results, feedback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201370" y="6056948"/>
            <a:ext cx="548640" cy="30480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50011" y="5388054"/>
            <a:ext cx="4772620" cy="1642586"/>
          </a:xfrm>
          <a:prstGeom prst="roundRect">
            <a:avLst>
              <a:gd name="adj" fmla="val 4639"/>
            </a:avLst>
          </a:prstGeom>
          <a:solidFill>
            <a:srgbClr val="232532"/>
          </a:solidFill>
          <a:ln/>
        </p:spPr>
      </p:sp>
      <p:sp>
        <p:nvSpPr>
          <p:cNvPr id="10" name="Shape 8"/>
          <p:cNvSpPr/>
          <p:nvPr/>
        </p:nvSpPr>
        <p:spPr>
          <a:xfrm>
            <a:off x="7092911" y="5730954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92911" y="6184345"/>
            <a:ext cx="44955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Competency Model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92911" y="6466284"/>
            <a:ext cx="4495502" cy="2595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359"/>
              </a:lnSpc>
              <a:buNone/>
            </a:pPr>
            <a:r>
              <a:rPr lang="en-US" sz="112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Mastery mapped to learning outcomes, per student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11522630" y="6056948"/>
            <a:ext cx="548640" cy="30480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1271" y="5380434"/>
            <a:ext cx="4787860" cy="1657826"/>
          </a:xfrm>
          <a:prstGeom prst="roundRect">
            <a:avLst>
              <a:gd name="adj" fmla="val 4596"/>
            </a:avLst>
          </a:prstGeom>
          <a:solidFill>
            <a:srgbClr val="232532"/>
          </a:solidFill>
          <a:ln w="7620">
            <a:solidFill>
              <a:srgbClr val="9184D9"/>
            </a:solidFill>
            <a:prstDash val="solid"/>
          </a:ln>
          <a:effectLst>
            <a:outerShdw blurRad="101600" dist="50800" dir="16200000" algn="bl" rotWithShape="0">
              <a:srgbClr val="595D6C">
                <a:alpha val="10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2421791" y="5730954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21791" y="6184345"/>
            <a:ext cx="449550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Personalised Guidance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421791" y="6466284"/>
            <a:ext cx="4495502" cy="2595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359"/>
              </a:lnSpc>
              <a:buNone/>
            </a:pPr>
            <a:r>
              <a:rPr lang="en-US" sz="112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Plans, adaptive quizzes, study strategies, resources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105"/>
              </a:lnSpc>
              <a:buNone/>
            </a:pPr>
            <a:r>
              <a:rPr lang="en-US" sz="3750" kern="0" spc="-56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marked assessment to next study step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28750" y="2703195"/>
            <a:ext cx="342900" cy="3429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3236595"/>
            <a:ext cx="4023360" cy="3629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Integrate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428750" y="3751897"/>
            <a:ext cx="37673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to Moodle subject data, rubrics and results.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53050" y="2703195"/>
            <a:ext cx="342900" cy="3429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53050" y="3236595"/>
            <a:ext cx="4023360" cy="3629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Model mastery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353050" y="3751897"/>
            <a:ext cx="37673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competency model aligned to each subject's learning outcomes.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277350" y="2703195"/>
            <a:ext cx="342900" cy="3429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7350" y="3236595"/>
            <a:ext cx="4023360" cy="3629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Detect gaps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277350" y="3751897"/>
            <a:ext cx="37673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 marked work and feedback to pinpoint exactly what's weak.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201650" y="2703195"/>
            <a:ext cx="342900" cy="3429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201650" y="3236595"/>
            <a:ext cx="4023360" cy="3629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368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Guide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201650" y="3751897"/>
            <a:ext cx="376732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study strategies, resources and adaptive quizzes.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STUDENTS 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105"/>
              </a:lnSpc>
              <a:buNone/>
            </a:pPr>
            <a:r>
              <a:rPr lang="en-US" sz="3750" kern="0" spc="-56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tools, one continuous loop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28750" y="2588895"/>
            <a:ext cx="7600950" cy="3250883"/>
          </a:xfrm>
          <a:prstGeom prst="roundRect">
            <a:avLst>
              <a:gd name="adj" fmla="val 2344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71650" y="2931795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71650" y="3385185"/>
            <a:ext cx="760666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059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Mastery Dashboard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71650" y="3689985"/>
            <a:ext cx="7122605" cy="1844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level, strengths, gaps and progress trends at a glance.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258300" y="2588895"/>
            <a:ext cx="7600950" cy="3250883"/>
          </a:xfrm>
          <a:prstGeom prst="roundRect">
            <a:avLst>
              <a:gd name="adj" fmla="val 2344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0" y="2931795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3385185"/>
            <a:ext cx="760666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059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Personalised Learning Plans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601200" y="3689985"/>
            <a:ext cx="7122605" cy="1844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Concrete next steps generated directly from each student's own gaps.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28750" y="6068378"/>
            <a:ext cx="7600950" cy="3266122"/>
          </a:xfrm>
          <a:prstGeom prst="roundRect">
            <a:avLst>
              <a:gd name="adj" fmla="val 2333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771650" y="6411278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1650" y="6864668"/>
            <a:ext cx="7606665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059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Adaptive Quizzes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771650" y="7169468"/>
            <a:ext cx="7122605" cy="18602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generated against the exact learning outcomes still at risk.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258300" y="6068378"/>
            <a:ext cx="7600950" cy="3266122"/>
          </a:xfrm>
          <a:prstGeom prst="roundRect">
            <a:avLst>
              <a:gd name="adj" fmla="val 2333"/>
            </a:avLst>
          </a:prstGeom>
          <a:solidFill>
            <a:srgbClr val="232532"/>
          </a:solidFill>
          <a:ln w="7620">
            <a:solidFill>
              <a:srgbClr val="9184D9"/>
            </a:solidFill>
            <a:prstDash val="solid"/>
          </a:ln>
          <a:effectLst>
            <a:outerShdw blurRad="101600" dist="50800" dir="16200000" algn="bl" rotWithShape="0">
              <a:srgbClr val="595D6C">
                <a:alpha val="10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8820" y="6418898"/>
            <a:ext cx="285750" cy="28575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8820" y="6872288"/>
            <a:ext cx="7589901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059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Strategy Guidance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608820" y="7177088"/>
            <a:ext cx="7106908" cy="18449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Evidence-based recommendations tailored to how each student is performing.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3328511"/>
            <a:ext cx="1561671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3793331"/>
            <a:ext cx="10301288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4350" kern="0" spc="-65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mistake becomes something a student can learn from — not just a mark.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428750" y="6207919"/>
            <a:ext cx="9810750" cy="708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412"/>
              </a:lnSpc>
              <a:buNone/>
            </a:pPr>
            <a:r>
              <a:rPr lang="en-US" sz="165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in each subject's own rubrics and outcomes, so recommendations are accurate, explainable, and never a substitute for the grade a student actually earned.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RESPONSIBLE BY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3620750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3333"/>
              </a:lnSpc>
              <a:buNone/>
            </a:pPr>
            <a:r>
              <a:rPr lang="en-US" sz="3600" kern="0" spc="-54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a university, not around one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428750" y="2100739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28750" y="3296603"/>
            <a:ext cx="15430500" cy="9525"/>
          </a:xfrm>
          <a:prstGeom prst="rect">
            <a:avLst/>
          </a:prstGeom>
          <a:solidFill>
            <a:srgbClr val="E6E6EC">
              <a:alpha val="1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28750" y="2808208"/>
            <a:ext cx="342900" cy="24765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00250" y="2777014"/>
            <a:ext cx="6920912" cy="34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1575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signal only — never overrides official academic grading.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28750" y="4033361"/>
            <a:ext cx="15430500" cy="9525"/>
          </a:xfrm>
          <a:prstGeom prst="rect">
            <a:avLst/>
          </a:prstGeom>
          <a:solidFill>
            <a:srgbClr val="E6E6EC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28750" y="3544967"/>
            <a:ext cx="342900" cy="24765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00250" y="3513772"/>
            <a:ext cx="8466999" cy="34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1575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Outputs grounded in structured subject data, to keep recommendations accurate.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1428750" y="4770120"/>
            <a:ext cx="15430500" cy="9525"/>
          </a:xfrm>
          <a:prstGeom prst="rect">
            <a:avLst/>
          </a:prstGeom>
          <a:solidFill>
            <a:srgbClr val="E6E6EC">
              <a:alpha val="1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428750" y="4281726"/>
            <a:ext cx="342900" cy="24765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00250" y="4250531"/>
            <a:ext cx="9171218" cy="34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1575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requires proper permission and student consent, aligned to Moodle governance.</a:t>
            </a:r>
            <a:endParaRPr lang="en-US" sz="1575" dirty="0"/>
          </a:p>
        </p:txBody>
      </p:sp>
      <p:sp>
        <p:nvSpPr>
          <p:cNvPr id="14" name="Shape 12"/>
          <p:cNvSpPr/>
          <p:nvPr/>
        </p:nvSpPr>
        <p:spPr>
          <a:xfrm>
            <a:off x="1428750" y="5018484"/>
            <a:ext cx="342900" cy="247650"/>
          </a:xfrm>
          <a:prstGeom prst="roundRect">
            <a:avLst>
              <a:gd name="adj" fmla="val 50000"/>
            </a:avLst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00250" y="4987290"/>
            <a:ext cx="7706987" cy="348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1575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to meet institutional IT security and privacy policy from day one.</a:t>
            </a:r>
            <a:endParaRPr lang="en-US" sz="15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105"/>
              </a:lnSpc>
              <a:buNone/>
            </a:pPr>
            <a:r>
              <a:rPr lang="en-US" sz="3750" kern="0" spc="-56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ships first, what comes next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/>
          <p:cNvSpPr/>
          <p:nvPr/>
        </p:nvSpPr>
        <p:spPr>
          <a:xfrm>
            <a:off x="1428750" y="2588895"/>
            <a:ext cx="7562850" cy="6745605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09750" y="2981325"/>
            <a:ext cx="228600" cy="2286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33600" y="2969895"/>
            <a:ext cx="1340596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97059"/>
              </a:lnSpc>
            </a:pPr>
            <a:r>
              <a:rPr lang="en-US" sz="1650" dirty="0">
                <a:solidFill>
                  <a:srgbClr val="E9E9ED"/>
                </a:solidFill>
                <a:latin typeface="Inter"/>
                <a:ea typeface="Inter"/>
                <a:cs typeface="Inter" pitchFamily="34" charset="-120"/>
              </a:rPr>
              <a:t>Must-Haves</a:t>
            </a:r>
            <a:endParaRPr lang="en-US" sz="1650">
              <a:solidFill>
                <a:srgbClr val="000000"/>
              </a:solidFill>
              <a:latin typeface="Calibri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1809750" y="3465195"/>
            <a:ext cx="7004876" cy="5526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1635"/>
              </a:lnSpc>
              <a:buNone/>
            </a:pPr>
            <a:r>
              <a:rPr lang="en-US" sz="127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Moodle integration Rubric &amp; feedback parsing engine Competency model per subject Visual mastery dashboard Learning plan &amp; adaptive quiz generation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9296400" y="2588895"/>
            <a:ext cx="7562850" cy="6745605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77400" y="2981325"/>
            <a:ext cx="228600" cy="2286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01250" y="2969895"/>
            <a:ext cx="1616154" cy="289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7059"/>
              </a:lnSpc>
              <a:buNone/>
            </a:pPr>
            <a:r>
              <a:rPr lang="en-US" sz="1650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Nice-to-Haves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677400" y="3465195"/>
            <a:ext cx="7004876" cy="5526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1635"/>
              </a:lnSpc>
              <a:buNone/>
            </a:pPr>
            <a:r>
              <a:rPr lang="en-US" sz="1275" dirty="0">
                <a:solidFill>
                  <a:srgbClr val="E9E9ED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Longitudinal skill tracking across subjects Early academic-risk analytics Conversational reflective AI interface Gamified mastery milestones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E24DA-E936-38A2-3ACF-2E22203F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490EB97-9347-09AB-2B41-CF1A0C4C95EC}"/>
              </a:ext>
            </a:extLst>
          </p:cNvPr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48109C-47A3-B32D-DED5-B8F50A6CCDDE}"/>
              </a:ext>
            </a:extLst>
          </p:cNvPr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92105"/>
              </a:lnSpc>
            </a:pPr>
            <a:r>
              <a:rPr lang="en-US" sz="3750" kern="0" spc="-56" dirty="0">
                <a:solidFill>
                  <a:srgbClr val="E9E9ED"/>
                </a:solidFill>
                <a:ea typeface="+mn-lt"/>
                <a:cs typeface="+mn-lt"/>
              </a:rPr>
              <a:t>Mastery Dashboard F</a:t>
            </a:r>
            <a:r>
              <a:rPr lang="en-US" sz="3800" kern="0" spc="-56">
                <a:solidFill>
                  <a:srgbClr val="E9E9ED"/>
                </a:solidFill>
                <a:ea typeface="+mn-lt"/>
                <a:cs typeface="+mn-lt"/>
              </a:rPr>
              <a:t>low Chart</a:t>
            </a:r>
            <a:endParaRPr lang="en-US" sz="3750" dirty="0">
              <a:latin typeface="Inter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7351D57-F1FB-3740-BF40-543DA43EAB02}"/>
              </a:ext>
            </a:extLst>
          </p:cNvPr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FD4D86-6C20-99C7-C7F1-C18488628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57" t="-383" r="1764" b="30268"/>
          <a:stretch>
            <a:fillRect/>
          </a:stretch>
        </p:blipFill>
        <p:spPr>
          <a:xfrm>
            <a:off x="3833635" y="2246586"/>
            <a:ext cx="7240967" cy="7212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810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545D8-763C-4DFC-198F-8B5C47C1D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364A3B-E248-917B-F63D-389432E541BC}"/>
              </a:ext>
            </a:extLst>
          </p:cNvPr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129167"/>
              </a:lnSpc>
            </a:pPr>
            <a:r>
              <a:rPr lang="en-US" sz="1200" kern="0" spc="168">
                <a:solidFill>
                  <a:srgbClr val="9184D9"/>
                </a:solidFill>
                <a:latin typeface="Inter"/>
                <a:ea typeface="Inter"/>
              </a:rPr>
              <a:t>THE TEAM</a:t>
            </a:r>
          </a:p>
          <a:p>
            <a:pPr>
              <a:lnSpc>
                <a:spcPct val="129167"/>
              </a:lnSpc>
            </a:pPr>
            <a:endParaRPr lang="en-US" sz="1200" kern="0" spc="168" dirty="0">
              <a:solidFill>
                <a:srgbClr val="9184D9"/>
              </a:solidFill>
              <a:latin typeface="Inter"/>
              <a:ea typeface="Inter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70D37D-588F-C0DA-DFEA-160D33CAD0DF}"/>
              </a:ext>
            </a:extLst>
          </p:cNvPr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92105"/>
              </a:lnSpc>
            </a:pPr>
            <a:r>
              <a:rPr lang="en-US" sz="3750" kern="0" spc="-56">
                <a:solidFill>
                  <a:srgbClr val="E9E9ED"/>
                </a:solidFill>
                <a:latin typeface="Inter"/>
                <a:ea typeface="Inter"/>
              </a:rPr>
              <a:t>Six roles, one shared mission</a:t>
            </a:r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3C6EDD-F20F-1430-DEB7-4C555607F0F9}"/>
              </a:ext>
            </a:extLst>
          </p:cNvPr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4151F49-6ABA-A185-0C3D-586AAFEA9542}"/>
              </a:ext>
            </a:extLst>
          </p:cNvPr>
          <p:cNvSpPr/>
          <p:nvPr/>
        </p:nvSpPr>
        <p:spPr>
          <a:xfrm>
            <a:off x="1428750" y="2578956"/>
            <a:ext cx="7562850" cy="4052101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8C10837-CF17-13AE-BB41-B196D640CB91}"/>
              </a:ext>
            </a:extLst>
          </p:cNvPr>
          <p:cNvSpPr/>
          <p:nvPr/>
        </p:nvSpPr>
        <p:spPr>
          <a:xfrm>
            <a:off x="1809750" y="3465195"/>
            <a:ext cx="7004876" cy="5526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Inter"/>
                <a:ea typeface="Inter"/>
              </a:rPr>
              <a:t>Business Analyst</a:t>
            </a:r>
            <a:br>
              <a:rPr lang="en-US" sz="1250" dirty="0">
                <a:solidFill>
                  <a:srgbClr val="E9E9ED"/>
                </a:solidFill>
                <a:latin typeface="Inter"/>
                <a:ea typeface="Inter" pitchFamily="34" charset="-122"/>
              </a:rPr>
            </a:br>
            <a:r>
              <a:rPr lang="en-US" sz="1250">
                <a:solidFill>
                  <a:srgbClr val="E9E9ED"/>
                </a:solidFill>
                <a:latin typeface="Inter"/>
                <a:ea typeface="Inter"/>
              </a:rPr>
              <a:t>Requirements, governance &amp; compliance</a:t>
            </a:r>
            <a:endParaRPr lang="en-US"/>
          </a:p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Inter"/>
                <a:ea typeface="Inter"/>
              </a:rPr>
              <a:t>Engineering Manager</a:t>
            </a:r>
            <a:br>
              <a:rPr lang="en-US" sz="1250" dirty="0">
                <a:solidFill>
                  <a:srgbClr val="E9E9ED"/>
                </a:solidFill>
                <a:latin typeface="Inter"/>
                <a:ea typeface="Inter" pitchFamily="34" charset="-122"/>
              </a:rPr>
            </a:br>
            <a:r>
              <a:rPr lang="en-US" sz="1250">
                <a:solidFill>
                  <a:srgbClr val="E9E9ED"/>
                </a:solidFill>
                <a:latin typeface="Inter"/>
                <a:ea typeface="Inter"/>
              </a:rPr>
              <a:t>Architecture, delivery &amp; risk management</a:t>
            </a:r>
            <a:endParaRPr lang="en-US"/>
          </a:p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Inter"/>
                <a:ea typeface="Inter"/>
                <a:cs typeface="Inter" pitchFamily="34" charset="-120"/>
              </a:rPr>
              <a:t>SWE-1 (Backend/Integration)</a:t>
            </a:r>
            <a:br>
              <a:rPr lang="en-US" sz="1250" dirty="0">
                <a:solidFill>
                  <a:srgbClr val="E9E9ED"/>
                </a:solidFill>
                <a:latin typeface="Inter"/>
                <a:ea typeface="Inter" pitchFamily="34" charset="-122"/>
                <a:cs typeface="Inter" pitchFamily="34" charset="-120"/>
              </a:rPr>
            </a:br>
            <a:r>
              <a:rPr lang="en-US" sz="1250">
                <a:solidFill>
                  <a:srgbClr val="E9E9ED"/>
                </a:solidFill>
                <a:latin typeface="Inter"/>
                <a:ea typeface="Inter"/>
                <a:cs typeface="Inter" pitchFamily="34" charset="-120"/>
              </a:rPr>
              <a:t>Moodle integration, auth &amp; security</a:t>
            </a:r>
            <a:endParaRPr lang="en-US"/>
          </a:p>
          <a:p>
            <a:pPr marL="0" indent="0" algn="l">
              <a:lnSpc>
                <a:spcPct val="171635"/>
              </a:lnSpc>
              <a:buNone/>
            </a:pPr>
            <a:endParaRPr lang="en-US" sz="1250" dirty="0">
              <a:solidFill>
                <a:srgbClr val="E9E9ED">
                  <a:alpha val="80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6B5885B-27FA-38C9-A7A4-63511F5DCB02}"/>
              </a:ext>
            </a:extLst>
          </p:cNvPr>
          <p:cNvSpPr/>
          <p:nvPr/>
        </p:nvSpPr>
        <p:spPr>
          <a:xfrm>
            <a:off x="9296400" y="2578956"/>
            <a:ext cx="7562850" cy="4071979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6894C39-0C03-CD1F-38D5-4F64E71BDEC6}"/>
              </a:ext>
            </a:extLst>
          </p:cNvPr>
          <p:cNvSpPr/>
          <p:nvPr/>
        </p:nvSpPr>
        <p:spPr>
          <a:xfrm>
            <a:off x="9677400" y="3465195"/>
            <a:ext cx="7004876" cy="5526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</a:rPr>
              <a:t>SWE-2 (Data/ML)</a:t>
            </a:r>
            <a:br>
              <a:rPr lang="en-US" sz="1250" dirty="0">
                <a:solidFill>
                  <a:srgbClr val="E9E9ED"/>
                </a:solidFill>
                <a:latin typeface="Salesforce Sans"/>
                <a:ea typeface="Inter" pitchFamily="34" charset="-122"/>
              </a:rPr>
            </a:b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</a:rPr>
              <a:t>Competency engine &amp; synthetic data</a:t>
            </a:r>
            <a:endParaRPr lang="en-US"/>
          </a:p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  <a:cs typeface="Inter" pitchFamily="34" charset="-120"/>
              </a:rPr>
              <a:t>SWE-3 (AI/NLP)</a:t>
            </a:r>
            <a:br>
              <a:rPr lang="en-US" sz="1250" dirty="0">
                <a:solidFill>
                  <a:srgbClr val="E9E9ED"/>
                </a:solidFill>
                <a:latin typeface="Salesforce Sans"/>
                <a:ea typeface="Inter" pitchFamily="34" charset="-122"/>
                <a:cs typeface="Inter" pitchFamily="34" charset="-120"/>
              </a:rPr>
            </a:b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  <a:cs typeface="Inter" pitchFamily="34" charset="-120"/>
              </a:rPr>
              <a:t>Feedback parsing &amp; recommendations</a:t>
            </a:r>
            <a:endParaRPr lang="en-US"/>
          </a:p>
          <a:p>
            <a:pPr>
              <a:lnSpc>
                <a:spcPct val="171635"/>
              </a:lnSpc>
            </a:pP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  <a:cs typeface="Inter" pitchFamily="34" charset="-120"/>
              </a:rPr>
              <a:t>SWE-4 (Frontend)</a:t>
            </a:r>
            <a:br>
              <a:rPr lang="en-US" sz="1250" dirty="0">
                <a:solidFill>
                  <a:srgbClr val="E9E9ED"/>
                </a:solidFill>
                <a:latin typeface="Salesforce Sans"/>
                <a:ea typeface="Inter" pitchFamily="34" charset="-122"/>
                <a:cs typeface="Inter" pitchFamily="34" charset="-120"/>
              </a:rPr>
            </a:br>
            <a:r>
              <a:rPr lang="en-US" sz="1250">
                <a:solidFill>
                  <a:srgbClr val="E9E9ED"/>
                </a:solidFill>
                <a:latin typeface="Salesforce Sans"/>
                <a:ea typeface="Inter"/>
                <a:cs typeface="Inter" pitchFamily="34" charset="-120"/>
              </a:rPr>
              <a:t>Dashboard, quiz UI &amp; student UX</a:t>
            </a:r>
            <a:endParaRPr lang="en-US"/>
          </a:p>
          <a:p>
            <a:pPr marL="0" indent="0" algn="l">
              <a:lnSpc>
                <a:spcPct val="171635"/>
              </a:lnSpc>
              <a:buNone/>
            </a:pPr>
            <a:endParaRPr lang="en-US" sz="1250" dirty="0">
              <a:solidFill>
                <a:srgbClr val="E9E9ED">
                  <a:alpha val="80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4A7141-F96B-B140-1153-412C551CDBA5}"/>
              </a:ext>
            </a:extLst>
          </p:cNvPr>
          <p:cNvSpPr txBox="1"/>
          <p:nvPr/>
        </p:nvSpPr>
        <p:spPr>
          <a:xfrm>
            <a:off x="1431235" y="7429500"/>
            <a:ext cx="1172817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0" i="0">
                <a:solidFill>
                  <a:schemeClr val="bg1"/>
                </a:solidFill>
                <a:latin typeface="Salesforce Sans"/>
                <a:ea typeface="Salesforce Sans"/>
                <a:cs typeface="Salesforce Sans"/>
              </a:rPr>
              <a:t>Agile/Scrum methodology with rotating Scrum </a:t>
            </a:r>
            <a:r>
              <a:rPr lang="en-US">
                <a:solidFill>
                  <a:schemeClr val="bg1"/>
                </a:solidFill>
                <a:latin typeface="Salesforce Sans"/>
                <a:ea typeface="Salesforce Sans"/>
                <a:cs typeface="Salesforce Sans"/>
              </a:rPr>
              <a:t>Master 12-week</a:t>
            </a:r>
            <a:r>
              <a:rPr lang="en-US" b="0" i="0">
                <a:solidFill>
                  <a:schemeClr val="bg1"/>
                </a:solidFill>
                <a:latin typeface="Salesforce Sans"/>
                <a:ea typeface="Salesforce Sans"/>
                <a:cs typeface="Salesforce Sans"/>
              </a:rPr>
              <a:t> semester delivery (Jul–Oct 2026)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GB" dirty="0">
              <a:solidFill>
                <a:schemeClr val="bg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2809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A6A83-0B57-3E84-54B1-DAD73C6C3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80263B-82D7-D220-B7C3-EE8D1CCA2D05}"/>
              </a:ext>
            </a:extLst>
          </p:cNvPr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29167"/>
              </a:lnSpc>
            </a:pPr>
            <a:r>
              <a:rPr lang="en-US" sz="1200" kern="0" spc="168">
                <a:solidFill>
                  <a:srgbClr val="9184D9"/>
                </a:solidFill>
                <a:ea typeface="Inter"/>
                <a:cs typeface="Calibri"/>
              </a:rPr>
              <a:t>TECGNOLOGY STACK</a:t>
            </a:r>
            <a:endParaRPr lang="en-US" sz="1200" kern="0" spc="168" dirty="0">
              <a:solidFill>
                <a:srgbClr val="9184D9"/>
              </a:solidFill>
              <a:ea typeface="Inter"/>
              <a:cs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CFBCC9-1DA7-BFC5-47AD-FE5AFD600F6E}"/>
              </a:ext>
            </a:extLst>
          </p:cNvPr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92105"/>
              </a:lnSpc>
            </a:pPr>
            <a:r>
              <a:rPr lang="en-US" sz="3750" kern="0" spc="-56">
                <a:solidFill>
                  <a:srgbClr val="E9E9ED"/>
                </a:solidFill>
                <a:latin typeface="Salesforce Sans"/>
                <a:ea typeface="Inter"/>
              </a:rPr>
              <a:t>Enterprise-grade, proven technologies</a:t>
            </a:r>
            <a:endParaRPr lang="en-US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DE5E210-61E7-8E99-61C9-C0ADCC21482E}"/>
              </a:ext>
            </a:extLst>
          </p:cNvPr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E75CB8F-33C6-B908-4218-B432121EB704}"/>
              </a:ext>
            </a:extLst>
          </p:cNvPr>
          <p:cNvSpPr/>
          <p:nvPr/>
        </p:nvSpPr>
        <p:spPr>
          <a:xfrm>
            <a:off x="1428750" y="2578956"/>
            <a:ext cx="15563849" cy="6944387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BC2B98-283E-2EF3-0F1C-AE5C1D7F2612}"/>
              </a:ext>
            </a:extLst>
          </p:cNvPr>
          <p:cNvSpPr txBox="1"/>
          <p:nvPr/>
        </p:nvSpPr>
        <p:spPr>
          <a:xfrm>
            <a:off x="2345635" y="2867440"/>
            <a:ext cx="9144000" cy="637097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ea typeface="Inter"/>
                <a:cs typeface="+mn-lt"/>
              </a:rPr>
              <a:t>LMS Integration:</a:t>
            </a: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Moodle (Docker, MariaDB, REST API)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r>
              <a:rPr lang="en-US" sz="2400" b="1">
                <a:solidFill>
                  <a:schemeClr val="bg1"/>
                </a:solidFill>
                <a:ea typeface="Inter"/>
                <a:cs typeface="+mn-lt"/>
              </a:rPr>
              <a:t>Backend:</a:t>
            </a:r>
          </a:p>
          <a:p>
            <a:pPr lvl="1">
              <a:buFont typeface="Courier New"/>
              <a:buChar char="o"/>
            </a:pPr>
            <a:r>
              <a:rPr lang="en-US" sz="2400" dirty="0">
                <a:solidFill>
                  <a:schemeClr val="bg1"/>
                </a:solidFill>
                <a:ea typeface="Inter"/>
                <a:cs typeface="+mn-lt"/>
              </a:rPr>
              <a:t> Python + </a:t>
            </a:r>
            <a:r>
              <a:rPr lang="en-US" sz="2400" dirty="0" err="1">
                <a:solidFill>
                  <a:schemeClr val="bg1"/>
                </a:solidFill>
                <a:ea typeface="Inter"/>
                <a:cs typeface="+mn-lt"/>
              </a:rPr>
              <a:t>FastAPI</a:t>
            </a:r>
            <a:endParaRPr lang="en-US" sz="2400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PostgreSQL database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 dirty="0">
                <a:solidFill>
                  <a:schemeClr val="bg1"/>
                </a:solidFill>
                <a:ea typeface="Inter"/>
                <a:cs typeface="+mn-lt"/>
              </a:rPr>
              <a:t> </a:t>
            </a:r>
            <a:r>
              <a:rPr lang="en-US" sz="2400" dirty="0" err="1">
                <a:solidFill>
                  <a:schemeClr val="bg1"/>
                </a:solidFill>
                <a:ea typeface="Inter"/>
                <a:cs typeface="+mn-lt"/>
              </a:rPr>
              <a:t>pgvector</a:t>
            </a:r>
            <a:r>
              <a:rPr lang="en-US" sz="2400" dirty="0">
                <a:solidFill>
                  <a:schemeClr val="bg1"/>
                </a:solidFill>
                <a:ea typeface="Inter"/>
                <a:cs typeface="+mn-lt"/>
              </a:rPr>
              <a:t> for semantic search</a:t>
            </a:r>
          </a:p>
          <a:p>
            <a:r>
              <a:rPr lang="en-US" sz="2400" b="1">
                <a:solidFill>
                  <a:schemeClr val="bg1"/>
                </a:solidFill>
                <a:ea typeface="Inter"/>
                <a:cs typeface="+mn-lt"/>
              </a:rPr>
              <a:t>AI/ML:</a:t>
            </a: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Provider-agnostic LLM (Azure OpenAI recommended)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Vector embeddings for competency matching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r>
              <a:rPr lang="en-US" sz="2400" b="1">
                <a:solidFill>
                  <a:schemeClr val="bg1"/>
                </a:solidFill>
                <a:ea typeface="Inter"/>
                <a:cs typeface="+mn-lt"/>
              </a:rPr>
              <a:t>Frontend:</a:t>
            </a: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React + TypeScrip</a:t>
            </a:r>
            <a:r>
              <a:rPr lang="en-US" sz="2000" b="1" dirty="0">
                <a:solidFill>
                  <a:schemeClr val="bg1"/>
                </a:solidFill>
                <a:ea typeface="Inter"/>
                <a:cs typeface="+mn-lt"/>
              </a:rPr>
              <a:t>t</a:t>
            </a:r>
            <a:endParaRPr lang="en-US" sz="2000" b="1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Recharts for visualization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r>
              <a:rPr lang="en-US" sz="2400" b="1">
                <a:solidFill>
                  <a:schemeClr val="bg1"/>
                </a:solidFill>
                <a:ea typeface="Inter"/>
                <a:cs typeface="+mn-lt"/>
              </a:rPr>
              <a:t>Platform:</a:t>
            </a: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GitHub + GitHub Actions CI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>
                <a:solidFill>
                  <a:schemeClr val="bg1"/>
                </a:solidFill>
                <a:ea typeface="Inter"/>
                <a:cs typeface="+mn-lt"/>
              </a:rPr>
              <a:t> Docker Compose deployment</a:t>
            </a:r>
            <a:endParaRPr lang="en-US" sz="2400" dirty="0">
              <a:solidFill>
                <a:schemeClr val="bg1"/>
              </a:solidFill>
              <a:ea typeface="Inter"/>
              <a:cs typeface="+mn-lt"/>
            </a:endParaRPr>
          </a:p>
          <a:p>
            <a:pPr lvl="1">
              <a:buFont typeface="Courier New"/>
              <a:buChar char="o"/>
            </a:pPr>
            <a:r>
              <a:rPr lang="en-US" sz="2400" dirty="0">
                <a:solidFill>
                  <a:schemeClr val="bg1"/>
                </a:solidFill>
                <a:ea typeface="Inter"/>
                <a:cs typeface="+mn-lt"/>
              </a:rPr>
              <a:t> </a:t>
            </a:r>
            <a:r>
              <a:rPr lang="en-US" sz="2400" dirty="0" err="1">
                <a:solidFill>
                  <a:schemeClr val="bg1"/>
                </a:solidFill>
                <a:ea typeface="Inter"/>
                <a:cs typeface="+mn-lt"/>
              </a:rPr>
              <a:t>pytest</a:t>
            </a:r>
            <a:r>
              <a:rPr lang="en-US" sz="2400" dirty="0">
                <a:solidFill>
                  <a:schemeClr val="bg1"/>
                </a:solidFill>
                <a:ea typeface="Inter"/>
                <a:cs typeface="+mn-lt"/>
              </a:rPr>
              <a:t> + jest testing</a:t>
            </a:r>
            <a:endParaRPr lang="en-US" sz="2400">
              <a:solidFill>
                <a:schemeClr val="bg1"/>
              </a:solidFill>
              <a:ea typeface="Inter"/>
              <a:cs typeface="+mn-lt"/>
            </a:endParaRPr>
          </a:p>
          <a:p>
            <a:pPr algn="ctr"/>
            <a:endParaRPr lang="en-GB" sz="2400" dirty="0">
              <a:solidFill>
                <a:schemeClr val="bg1"/>
              </a:solidFill>
              <a:ea typeface="Inter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5036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6C9B8D-C7BE-3E29-91BC-9BF0A3D67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8A1F8BF-A073-C4B3-69CF-BE8D9D2132F6}"/>
              </a:ext>
            </a:extLst>
          </p:cNvPr>
          <p:cNvSpPr/>
          <p:nvPr/>
        </p:nvSpPr>
        <p:spPr>
          <a:xfrm>
            <a:off x="1428750" y="95250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29167"/>
              </a:lnSpc>
            </a:pPr>
            <a:r>
              <a:rPr lang="en-US" sz="1200" kern="0" spc="168">
                <a:solidFill>
                  <a:srgbClr val="9184D9"/>
                </a:solidFill>
                <a:ea typeface="Inter"/>
                <a:cs typeface="Calibri"/>
              </a:rPr>
              <a:t>DELIVERY TIMELINE</a:t>
            </a:r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4C96B9-9493-8788-6A21-B11F758372C2}"/>
              </a:ext>
            </a:extLst>
          </p:cNvPr>
          <p:cNvSpPr/>
          <p:nvPr/>
        </p:nvSpPr>
        <p:spPr>
          <a:xfrm>
            <a:off x="1428750" y="1360170"/>
            <a:ext cx="169735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92105"/>
              </a:lnSpc>
            </a:pPr>
            <a:r>
              <a:rPr lang="en-US" sz="3750" kern="0" spc="-56">
                <a:solidFill>
                  <a:srgbClr val="E9E9ED"/>
                </a:solidFill>
                <a:latin typeface="Salesforce Sans"/>
                <a:ea typeface="Inter"/>
              </a:rPr>
              <a:t>12 weeks, 5 sprints, disciplined </a:t>
            </a:r>
            <a:r>
              <a:rPr lang="en-US" sz="3750" kern="0" spc="-56">
                <a:solidFill>
                  <a:srgbClr val="E9E9ED"/>
                </a:solidFill>
                <a:latin typeface="Salesforce Sans"/>
                <a:ea typeface="Inter"/>
                <a:cs typeface="Calibri" panose="020F0502020204030204"/>
              </a:rPr>
              <a:t>delivery</a:t>
            </a:r>
            <a:endParaRPr lang="en-US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D2B39CE-BF77-F58E-D01B-FA06207AF661}"/>
              </a:ext>
            </a:extLst>
          </p:cNvPr>
          <p:cNvSpPr/>
          <p:nvPr/>
        </p:nvSpPr>
        <p:spPr>
          <a:xfrm>
            <a:off x="1428750" y="2122170"/>
            <a:ext cx="15430500" cy="9525"/>
          </a:xfrm>
          <a:prstGeom prst="rect">
            <a:avLst/>
          </a:prstGeom>
          <a:gradFill rotWithShape="1">
            <a:gsLst>
              <a:gs pos="0">
                <a:srgbClr val="E6E6EC">
                  <a:alpha val="0"/>
                </a:srgbClr>
              </a:gs>
              <a:gs pos="50000">
                <a:srgbClr val="E6E6EC">
                  <a:alpha val="16000"/>
                </a:srgbClr>
              </a:gs>
              <a:gs pos="100000">
                <a:srgbClr val="E6E6EC">
                  <a:alpha val="16000"/>
                </a:srgbClr>
              </a:gs>
              <a:gs pos="100000">
                <a:srgbClr val="E6E6EC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275715-F5BF-2368-E818-78A9112C850C}"/>
              </a:ext>
            </a:extLst>
          </p:cNvPr>
          <p:cNvSpPr/>
          <p:nvPr/>
        </p:nvSpPr>
        <p:spPr>
          <a:xfrm>
            <a:off x="1428750" y="2578956"/>
            <a:ext cx="15563849" cy="6944387"/>
          </a:xfrm>
          <a:prstGeom prst="roundRect">
            <a:avLst>
              <a:gd name="adj" fmla="val 1130"/>
            </a:avLst>
          </a:prstGeom>
          <a:solidFill>
            <a:srgbClr val="232532"/>
          </a:solidFill>
          <a:ln/>
          <a:effectLst>
            <a:outerShdw blurRad="101600" dist="50800" dir="16200000" algn="bl" rotWithShape="0">
              <a:srgbClr val="3F424D">
                <a:alpha val="100000"/>
              </a:srgbClr>
            </a:outerShdw>
          </a:effectLst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78CC06-94D5-A85B-71AC-A4A335EBAE07}"/>
              </a:ext>
            </a:extLst>
          </p:cNvPr>
          <p:cNvSpPr txBox="1"/>
          <p:nvPr/>
        </p:nvSpPr>
        <p:spPr>
          <a:xfrm>
            <a:off x="2345635" y="2867440"/>
            <a:ext cx="9144000" cy="336245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50">
                <a:solidFill>
                  <a:schemeClr val="bg1"/>
                </a:solidFill>
                <a:ea typeface="Inter"/>
              </a:rPr>
              <a:t>LMS Integration: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Moodle (Docker, MariaDB, REST API)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r>
              <a:rPr lang="en-US" sz="1250">
                <a:solidFill>
                  <a:schemeClr val="bg1"/>
                </a:solidFill>
                <a:ea typeface="Inter"/>
              </a:rPr>
              <a:t>Backend: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 dirty="0">
                <a:solidFill>
                  <a:schemeClr val="bg1"/>
                </a:solidFill>
                <a:ea typeface="Inter"/>
              </a:rPr>
              <a:t> Python + </a:t>
            </a:r>
            <a:r>
              <a:rPr lang="en-US" sz="1250" dirty="0" err="1">
                <a:solidFill>
                  <a:schemeClr val="bg1"/>
                </a:solidFill>
                <a:ea typeface="Inter"/>
              </a:rPr>
              <a:t>FastAPI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PostgreSQL database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 dirty="0">
                <a:solidFill>
                  <a:schemeClr val="bg1"/>
                </a:solidFill>
                <a:ea typeface="Inter"/>
              </a:rPr>
              <a:t> </a:t>
            </a:r>
            <a:r>
              <a:rPr lang="en-US" sz="1250" dirty="0" err="1">
                <a:solidFill>
                  <a:schemeClr val="bg1"/>
                </a:solidFill>
                <a:ea typeface="Inter"/>
              </a:rPr>
              <a:t>pgvector</a:t>
            </a:r>
            <a:r>
              <a:rPr lang="en-US" sz="1250" dirty="0">
                <a:solidFill>
                  <a:schemeClr val="bg1"/>
                </a:solidFill>
                <a:ea typeface="Inter"/>
              </a:rPr>
              <a:t> for semantic search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r>
              <a:rPr lang="en-US" sz="1250">
                <a:solidFill>
                  <a:schemeClr val="bg1"/>
                </a:solidFill>
                <a:ea typeface="Inter"/>
              </a:rPr>
              <a:t>AI/ML: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Provider-agnostic LLM (Azure OpenAI recommended)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Vector embeddings for competency matching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r>
              <a:rPr lang="en-US" sz="1250">
                <a:solidFill>
                  <a:schemeClr val="bg1"/>
                </a:solidFill>
                <a:ea typeface="Inter"/>
              </a:rPr>
              <a:t>Frontend: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React + TypeScrip</a:t>
            </a:r>
            <a:r>
              <a:rPr lang="en-US" sz="1250" dirty="0">
                <a:solidFill>
                  <a:schemeClr val="bg1"/>
                </a:solidFill>
                <a:ea typeface="Inter"/>
              </a:rPr>
              <a:t>t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Recharts for visualization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r>
              <a:rPr lang="en-US" sz="1250">
                <a:solidFill>
                  <a:schemeClr val="bg1"/>
                </a:solidFill>
                <a:ea typeface="Inter"/>
              </a:rPr>
              <a:t>Platform: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GitHub + GitHub Actions CI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>
                <a:solidFill>
                  <a:schemeClr val="bg1"/>
                </a:solidFill>
                <a:ea typeface="Inter"/>
              </a:rPr>
              <a:t> Docker Compose deployment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lvl="1">
              <a:buFont typeface="Courier New"/>
              <a:buChar char="o"/>
            </a:pPr>
            <a:r>
              <a:rPr lang="en-US" sz="1250" dirty="0">
                <a:solidFill>
                  <a:schemeClr val="bg1"/>
                </a:solidFill>
                <a:ea typeface="Inter"/>
              </a:rPr>
              <a:t> </a:t>
            </a:r>
            <a:r>
              <a:rPr lang="en-US" sz="1250" dirty="0" err="1">
                <a:solidFill>
                  <a:schemeClr val="bg1"/>
                </a:solidFill>
                <a:ea typeface="Inter"/>
              </a:rPr>
              <a:t>pytest</a:t>
            </a:r>
            <a:r>
              <a:rPr lang="en-US" sz="1250" dirty="0">
                <a:solidFill>
                  <a:schemeClr val="bg1"/>
                </a:solidFill>
                <a:ea typeface="Inter"/>
              </a:rPr>
              <a:t> + jest testing</a:t>
            </a:r>
            <a:endParaRPr lang="en-US" sz="1250">
              <a:solidFill>
                <a:schemeClr val="bg1"/>
              </a:solidFill>
              <a:ea typeface="Inter"/>
              <a:cs typeface="Calibri"/>
            </a:endParaRPr>
          </a:p>
          <a:p>
            <a:pPr algn="ctr"/>
            <a:endParaRPr lang="en-GB" sz="1250" dirty="0">
              <a:solidFill>
                <a:schemeClr val="bg1"/>
              </a:solidFill>
              <a:ea typeface="Inter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29012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53B80">
                  <a:alpha val="100000"/>
                </a:srgbClr>
              </a:gs>
              <a:gs pos="60000">
                <a:srgbClr val="262A60">
                  <a:alpha val="100000"/>
                </a:srgbClr>
              </a:gs>
            </a:gsLst>
            <a:path path="circle">
              <a:fillToRect l="85000" t="90000" r="15000" b="10000"/>
            </a:path>
          </a:gradFill>
          <a:ln/>
        </p:spPr>
      </p:sp>
      <p:sp>
        <p:nvSpPr>
          <p:cNvPr id="3" name="Text 1"/>
          <p:cNvSpPr/>
          <p:nvPr/>
        </p:nvSpPr>
        <p:spPr>
          <a:xfrm>
            <a:off x="1428750" y="2868930"/>
            <a:ext cx="1697355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167"/>
              </a:lnSpc>
              <a:buNone/>
            </a:pPr>
            <a:r>
              <a:rPr lang="en-US" sz="1200" kern="0" spc="168" dirty="0">
                <a:solidFill>
                  <a:srgbClr val="9184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428750" y="3333750"/>
            <a:ext cx="11772900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093"/>
              </a:lnSpc>
              <a:buNone/>
            </a:pPr>
            <a:r>
              <a:rPr lang="en-US" sz="4800" kern="0" spc="-72" dirty="0">
                <a:solidFill>
                  <a:srgbClr val="E9E9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from every mistake — that's the whole idea.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428750" y="5162550"/>
            <a:ext cx="9810750" cy="708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412"/>
              </a:lnSpc>
              <a:buNone/>
            </a:pPr>
            <a:r>
              <a:rPr lang="en-US" sz="165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 our booth for a live walkthrough of the mastery dashboard, or scan the QR code below to book a demo.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428750" y="6370320"/>
            <a:ext cx="1047750" cy="1047750"/>
          </a:xfrm>
          <a:prstGeom prst="roundRect">
            <a:avLst>
              <a:gd name="adj" fmla="val 7273"/>
            </a:avLst>
          </a:prstGeom>
          <a:solidFill>
            <a:srgbClr val="232532"/>
          </a:solidFill>
          <a:ln w="7620">
            <a:solidFill>
              <a:srgbClr val="E6E6EC">
                <a:alpha val="1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975" y="6646545"/>
            <a:ext cx="495300" cy="495300"/>
          </a:xfrm>
          <a:prstGeom prst="ellipse">
            <a:avLst/>
          </a:prstGeom>
          <a:ln w="7620">
            <a:solidFill>
              <a:srgbClr val="9184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71900" y="6619875"/>
            <a:ext cx="2788093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33"/>
              </a:lnSpc>
              <a:buNone/>
            </a:pPr>
            <a:r>
              <a:rPr lang="en-US" sz="1350" dirty="0">
                <a:solidFill>
                  <a:srgbClr val="CFD3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Journey Assistant Team La Trobe University · Booth 12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128</cp:revision>
  <dcterms:created xsi:type="dcterms:W3CDTF">2026-07-29T16:13:35Z</dcterms:created>
  <dcterms:modified xsi:type="dcterms:W3CDTF">2026-08-02T11:15:47Z</dcterms:modified>
</cp:coreProperties>
</file>