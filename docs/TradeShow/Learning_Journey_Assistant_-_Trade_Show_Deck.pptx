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visitors; introduce the team and the one-line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gap: rich feedback exists but students can't act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AI model as the core idea: a living academic profile per student.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four-step pipeline behind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four concrete deliverables students would actually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emotional hook slide -- lean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the compliance-minded audience directly: privacy, ethics, human oversight.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Distinguish what ships first from what's exploratory.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on the CTA -- direct people to the demo / booth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B80">
                  <a:alpha val="100000"/>
                </a:srgbClr>
              </a:gs>
              <a:gs pos="60000">
                <a:srgbClr val="262A60">
                  <a:alpha val="100000"/>
                </a:srgbClr>
              </a:gs>
            </a:gsLst>
            <a:path path="circle">
              <a:fillToRect l="15000" t="10000" r="85000" b="9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428750" y="3524607"/>
            <a:ext cx="190500" cy="1905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714500" y="3524607"/>
            <a:ext cx="39857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TRADE SHOW 2026 · PROJECT PROPOSAL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28750" y="3985617"/>
            <a:ext cx="12049125" cy="9554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615"/>
              </a:lnSpc>
              <a:buNone/>
            </a:pPr>
            <a:r>
              <a:rPr lang="en-US" sz="6450" spc="-97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Journey Assistant</a:t>
            </a:r>
            <a:endParaRPr lang="en-US" sz="6450" dirty="0"/>
          </a:p>
        </p:txBody>
      </p:sp>
      <p:sp>
        <p:nvSpPr>
          <p:cNvPr id="6" name="Text 4"/>
          <p:cNvSpPr/>
          <p:nvPr/>
        </p:nvSpPr>
        <p:spPr>
          <a:xfrm>
            <a:off x="1428750" y="5169694"/>
            <a:ext cx="882967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 system that turns every student's marked assessments and feedback into a clear, personalised path to improve.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428750" y="6312694"/>
            <a:ext cx="2325291" cy="472440"/>
          </a:xfrm>
          <a:prstGeom prst="roundRect">
            <a:avLst>
              <a:gd name="adj" fmla="val 16129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0" y="6434614"/>
            <a:ext cx="228600" cy="2286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31670" y="6457474"/>
            <a:ext cx="168140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us for a live demo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887391" y="6361748"/>
            <a:ext cx="2201585" cy="374332"/>
          </a:xfrm>
          <a:prstGeom prst="roundRect">
            <a:avLst>
              <a:gd name="adj" fmla="val 15267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47411" y="6468428"/>
            <a:ext cx="459224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21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430435" y="6445568"/>
            <a:ext cx="217170" cy="2447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21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71405" y="6468428"/>
            <a:ext cx="1433751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050" spc="21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La Trobe University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2753975" cy="12327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235"/>
              </a:lnSpc>
              <a:buNone/>
            </a:pPr>
            <a:r>
              <a:rPr lang="en-US" sz="4200" spc="-63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get feedback. They rarely get a next step.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428750" y="2783443"/>
            <a:ext cx="154305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28750" y="3326368"/>
            <a:ext cx="4940261" cy="6008132"/>
          </a:xfrm>
          <a:prstGeom prst="roundRect">
            <a:avLst>
              <a:gd name="adj" fmla="val 154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71650" y="3669268"/>
            <a:ext cx="323850" cy="3238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1650" y="4179808"/>
            <a:ext cx="46799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 is unclear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771650" y="4507468"/>
            <a:ext cx="4382094" cy="452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3"/>
              </a:lnSpc>
              <a:buNone/>
            </a:pPr>
            <a:r>
              <a:rPr lang="en-US" sz="127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can't tell how close they are to genuinely understanding a topic, only their last grade.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6673811" y="3326368"/>
            <a:ext cx="4940261" cy="6008132"/>
          </a:xfrm>
          <a:prstGeom prst="roundRect">
            <a:avLst>
              <a:gd name="adj" fmla="val 154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016711" y="3669268"/>
            <a:ext cx="323850" cy="3238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16711" y="4179808"/>
            <a:ext cx="46799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data sits idle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16711" y="4507468"/>
            <a:ext cx="4382094" cy="452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3"/>
              </a:lnSpc>
              <a:buNone/>
            </a:pPr>
            <a:r>
              <a:rPr lang="en-US" sz="127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outcomes, rubrics and results already exist — but nothing connects them into guidance.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11918871" y="3326368"/>
            <a:ext cx="4940261" cy="6008132"/>
          </a:xfrm>
          <a:prstGeom prst="roundRect">
            <a:avLst>
              <a:gd name="adj" fmla="val 1542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2261771" y="3669268"/>
            <a:ext cx="323850" cy="3238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261771" y="4179808"/>
            <a:ext cx="4679906" cy="31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Everyone studies blind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261771" y="4507468"/>
            <a:ext cx="4382094" cy="45222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3"/>
              </a:lnSpc>
              <a:buNone/>
            </a:pPr>
            <a:r>
              <a:rPr lang="en-US" sz="127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Without a structured feedback loop, students re-study everything instead of what actually needs work.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1282363" cy="1228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796"/>
              </a:lnSpc>
              <a:buNone/>
            </a:pPr>
            <a:r>
              <a:rPr lang="en-US" sz="3750" spc="-56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dynamic AI model of each student's academic profile — built from real subject data.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428750" y="5388054"/>
            <a:ext cx="4772620" cy="1642586"/>
          </a:xfrm>
          <a:prstGeom prst="roundRect">
            <a:avLst>
              <a:gd name="adj" fmla="val 4639"/>
            </a:avLst>
          </a:prstGeom>
          <a:solidFill>
            <a:srgbClr val="232532"/>
          </a:solidFill>
          <a:ln/>
        </p:spPr>
      </p:sp>
      <p:sp>
        <p:nvSpPr>
          <p:cNvPr id="5" name="Shape 3"/>
          <p:cNvSpPr/>
          <p:nvPr/>
        </p:nvSpPr>
        <p:spPr>
          <a:xfrm>
            <a:off x="1771650" y="5730954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71650" y="6184345"/>
            <a:ext cx="44955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Moodle Data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71650" y="6466284"/>
            <a:ext cx="449550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59"/>
              </a:lnSpc>
              <a:buNone/>
            </a:pPr>
            <a:r>
              <a:rPr lang="en-US" sz="112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Subjects, rubrics, assessment results, feedback</a:t>
            </a:r>
            <a:endParaRPr lang="en-US" sz="1125" dirty="0"/>
          </a:p>
        </p:txBody>
      </p:sp>
      <p:sp>
        <p:nvSpPr>
          <p:cNvPr id="8" name="Shape 6"/>
          <p:cNvSpPr/>
          <p:nvPr/>
        </p:nvSpPr>
        <p:spPr>
          <a:xfrm>
            <a:off x="6201370" y="6056948"/>
            <a:ext cx="548640" cy="30480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50011" y="5388054"/>
            <a:ext cx="4772620" cy="1642586"/>
          </a:xfrm>
          <a:prstGeom prst="roundRect">
            <a:avLst>
              <a:gd name="adj" fmla="val 4639"/>
            </a:avLst>
          </a:prstGeom>
          <a:solidFill>
            <a:srgbClr val="232532"/>
          </a:solidFill>
          <a:ln/>
        </p:spPr>
      </p:sp>
      <p:sp>
        <p:nvSpPr>
          <p:cNvPr id="10" name="Shape 8"/>
          <p:cNvSpPr/>
          <p:nvPr/>
        </p:nvSpPr>
        <p:spPr>
          <a:xfrm>
            <a:off x="7092911" y="5730954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92911" y="6184345"/>
            <a:ext cx="44955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Competency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92911" y="6466284"/>
            <a:ext cx="449550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59"/>
              </a:lnSpc>
              <a:buNone/>
            </a:pPr>
            <a:r>
              <a:rPr lang="en-US" sz="112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 mapped to learning outcomes, per student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1522630" y="6056948"/>
            <a:ext cx="548640" cy="30480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071271" y="5380434"/>
            <a:ext cx="4787860" cy="1657826"/>
          </a:xfrm>
          <a:prstGeom prst="roundRect">
            <a:avLst>
              <a:gd name="adj" fmla="val 4596"/>
            </a:avLst>
          </a:prstGeom>
          <a:solidFill>
            <a:srgbClr val="232532"/>
          </a:solidFill>
          <a:ln w="7620">
            <a:solidFill>
              <a:srgbClr val="9184D9"/>
            </a:solidFill>
            <a:prstDash val="solid"/>
          </a:ln>
          <a:effectLst>
            <a:outerShdw sx="100000" sy="100000" kx="0" ky="0" algn="bl" rotWithShape="0" blurRad="101600" dist="50800" dir="16200000">
              <a:srgbClr val="595D6C">
                <a:alpha val="10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421791" y="5730954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421791" y="6184345"/>
            <a:ext cx="449550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Guidance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21791" y="6466284"/>
            <a:ext cx="449550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359"/>
              </a:lnSpc>
              <a:buNone/>
            </a:pPr>
            <a:r>
              <a:rPr lang="en-US" sz="112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Plans, adaptive quizzes, study strategies, resources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6973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750" spc="-56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marked assessment to next study step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428750" y="2122170"/>
            <a:ext cx="154305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28750" y="2703195"/>
            <a:ext cx="342900" cy="3429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28750" y="3236595"/>
            <a:ext cx="402336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68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Integrate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428750" y="3751897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Securely connect to Moodle subject data, rubrics and results.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53050" y="2703195"/>
            <a:ext cx="342900" cy="3429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53050" y="3236595"/>
            <a:ext cx="402336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68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Model mastery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5353050" y="3751897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competency model aligned to each subject's learning outcomes.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277350" y="2703195"/>
            <a:ext cx="342900" cy="3429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77350" y="3236595"/>
            <a:ext cx="402336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68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Detect gaps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9277350" y="3751897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Analyse marked work and feedback to pinpoint exactly what's weak.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01650" y="2703195"/>
            <a:ext cx="342900" cy="3429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201650" y="3236595"/>
            <a:ext cx="4023360" cy="3629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368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Guide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3201650" y="3751897"/>
            <a:ext cx="376732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study strategies, resources and adaptive quizzes.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STUDENTS 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6973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750" spc="-56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tools, one continuous loop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428750" y="2122170"/>
            <a:ext cx="154305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28750" y="2588895"/>
            <a:ext cx="7600950" cy="3250883"/>
          </a:xfrm>
          <a:prstGeom prst="roundRect">
            <a:avLst>
              <a:gd name="adj" fmla="val 2344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771650" y="2931795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771650" y="3385185"/>
            <a:ext cx="760666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Mastery Dashboard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771650" y="3689985"/>
            <a:ext cx="7122605" cy="184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level, strengths, gaps and progress trends at a glance.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258300" y="2588895"/>
            <a:ext cx="7600950" cy="3250883"/>
          </a:xfrm>
          <a:prstGeom prst="roundRect">
            <a:avLst>
              <a:gd name="adj" fmla="val 2344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01200" y="2931795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0" y="3385185"/>
            <a:ext cx="760666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Personalised Learning Plans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01200" y="3689985"/>
            <a:ext cx="7122605" cy="184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Concrete next steps generated directly from each student's own gaps.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428750" y="6068378"/>
            <a:ext cx="7600950" cy="3266122"/>
          </a:xfrm>
          <a:prstGeom prst="roundRect">
            <a:avLst>
              <a:gd name="adj" fmla="val 2333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771650" y="6411278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71650" y="6864668"/>
            <a:ext cx="7606665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Adaptive Quizzes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771650" y="7169468"/>
            <a:ext cx="7122605" cy="18602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generated against the exact learning outcomes still at risk.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258300" y="6068378"/>
            <a:ext cx="7600950" cy="3266122"/>
          </a:xfrm>
          <a:prstGeom prst="roundRect">
            <a:avLst>
              <a:gd name="adj" fmla="val 2333"/>
            </a:avLst>
          </a:prstGeom>
          <a:solidFill>
            <a:srgbClr val="232532"/>
          </a:solidFill>
          <a:ln w="7620">
            <a:solidFill>
              <a:srgbClr val="9184D9"/>
            </a:solidFill>
            <a:prstDash val="solid"/>
          </a:ln>
          <a:effectLst>
            <a:outerShdw sx="100000" sy="100000" kx="0" ky="0" algn="bl" rotWithShape="0" blurRad="101600" dist="50800" dir="16200000">
              <a:srgbClr val="595D6C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608820" y="6418898"/>
            <a:ext cx="285750" cy="28575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8820" y="6872288"/>
            <a:ext cx="7589901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Strategy Guidance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08820" y="7177088"/>
            <a:ext cx="7106908" cy="1844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recommendations tailored to how each student is performing.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3328511"/>
            <a:ext cx="1561671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3793331"/>
            <a:ext cx="10301288" cy="21097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167"/>
              </a:lnSpc>
              <a:buNone/>
            </a:pPr>
            <a:r>
              <a:rPr lang="en-US" sz="4350" spc="-65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mistake becomes something a student can learn from — not just a mark.</a:t>
            </a:r>
            <a:endParaRPr lang="en-US" sz="4350" dirty="0"/>
          </a:p>
        </p:txBody>
      </p:sp>
      <p:sp>
        <p:nvSpPr>
          <p:cNvPr id="4" name="Text 2"/>
          <p:cNvSpPr/>
          <p:nvPr/>
        </p:nvSpPr>
        <p:spPr>
          <a:xfrm>
            <a:off x="1428750" y="6207919"/>
            <a:ext cx="981075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65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in each subject's own rubrics and outcomes, so recommendations are accurate, explainable, and never a substitute for the grade a student actually earned.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RESPONSIBLE BY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3620750" cy="550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3600" spc="-54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a university, not around one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28750" y="2100739"/>
            <a:ext cx="154305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28750" y="3296603"/>
            <a:ext cx="1543050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28750" y="2808208"/>
            <a:ext cx="342900" cy="24765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00250" y="2777014"/>
            <a:ext cx="6920912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Formative signal only — never overrides official academic grading.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1428750" y="4033361"/>
            <a:ext cx="1543050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428750" y="3544967"/>
            <a:ext cx="342900" cy="24765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0250" y="3513772"/>
            <a:ext cx="8466999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grounded in structured subject data, to keep recommendations accurate.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1428750" y="4770120"/>
            <a:ext cx="15430500" cy="9525"/>
          </a:xfrm>
          <a:prstGeom prst="rect">
            <a:avLst/>
          </a:prstGeom>
          <a:solidFill>
            <a:srgbClr val="E6E6EC">
              <a:alpha val="16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428750" y="4281726"/>
            <a:ext cx="342900" cy="24765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00250" y="4250531"/>
            <a:ext cx="9171218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requires proper permission and student consent, aligned to Moodle governance.</a:t>
            </a:r>
            <a:endParaRPr lang="en-US" sz="1575" dirty="0"/>
          </a:p>
        </p:txBody>
      </p:sp>
      <p:sp>
        <p:nvSpPr>
          <p:cNvPr id="14" name="Shape 12"/>
          <p:cNvSpPr/>
          <p:nvPr/>
        </p:nvSpPr>
        <p:spPr>
          <a:xfrm>
            <a:off x="1428750" y="5018484"/>
            <a:ext cx="342900" cy="247650"/>
          </a:xfrm>
          <a:prstGeom prst="roundRect">
            <a:avLst>
              <a:gd name="adj" fmla="val 50000"/>
            </a:avLst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00250" y="4987290"/>
            <a:ext cx="7706987" cy="3481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250"/>
              </a:lnSpc>
              <a:buNone/>
            </a:pPr>
            <a:r>
              <a:rPr lang="en-US" sz="1575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Designed to meet institutional IT security and privacy policy from day one.</a:t>
            </a:r>
            <a:endParaRPr lang="en-US" sz="15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8750" y="95250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428750" y="1360170"/>
            <a:ext cx="169735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105"/>
              </a:lnSpc>
              <a:buNone/>
            </a:pPr>
            <a:r>
              <a:rPr lang="en-US" sz="3750" spc="-56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ships first, what comes next</a:t>
            </a:r>
            <a:endParaRPr lang="en-US" sz="3750" dirty="0"/>
          </a:p>
        </p:txBody>
      </p:sp>
      <p:sp>
        <p:nvSpPr>
          <p:cNvPr id="4" name="Shape 2"/>
          <p:cNvSpPr/>
          <p:nvPr/>
        </p:nvSpPr>
        <p:spPr>
          <a:xfrm>
            <a:off x="1428750" y="2122170"/>
            <a:ext cx="15430500" cy="9525"/>
          </a:xfrm>
          <a:prstGeom prst="rect">
            <a:avLst/>
          </a:prstGeom>
          <a:gradFill rotWithShape="1">
            <a:gsLst>
              <a:gs pos="0">
                <a:srgbClr val="E6E6EC">
                  <a:alpha val="0"/>
                </a:srgbClr>
              </a:gs>
              <a:gs pos="50000">
                <a:srgbClr val="E6E6EC">
                  <a:alpha val="16000"/>
                </a:srgbClr>
              </a:gs>
              <a:gs pos="100000">
                <a:srgbClr val="E6E6EC">
                  <a:alpha val="16000"/>
                </a:srgbClr>
              </a:gs>
              <a:gs pos="100000">
                <a:srgbClr val="E6E6EC">
                  <a:alpha val="0"/>
                </a:srgbClr>
              </a:gs>
            </a:gsLst>
            <a:lin ang="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1428750" y="2588895"/>
            <a:ext cx="7562850" cy="6745605"/>
          </a:xfrm>
          <a:prstGeom prst="roundRect">
            <a:avLst>
              <a:gd name="adj" fmla="val 1130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09750" y="2981325"/>
            <a:ext cx="228600" cy="2286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3600" y="2969895"/>
            <a:ext cx="1340596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Must-Haves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809750" y="3465195"/>
            <a:ext cx="7004876" cy="5526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635"/>
              </a:lnSpc>
              <a:buNone/>
            </a:pPr>
            <a:r>
              <a:rPr lang="en-US" sz="127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Moodle integration Rubric &amp; feedback parsing engine Competency model per subject Visual mastery dashboard Learning plan &amp; adaptive quiz generation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9296400" y="2588895"/>
            <a:ext cx="7562850" cy="6745605"/>
          </a:xfrm>
          <a:prstGeom prst="roundRect">
            <a:avLst>
              <a:gd name="adj" fmla="val 1130"/>
            </a:avLst>
          </a:prstGeom>
          <a:solidFill>
            <a:srgbClr val="232532"/>
          </a:solidFill>
          <a:ln/>
          <a:effectLst>
            <a:outerShdw sx="100000" sy="100000" kx="0" ky="0" algn="bl" rotWithShape="0" blurRad="101600" dist="50800" dir="16200000">
              <a:srgbClr val="3F424D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677400" y="2981325"/>
            <a:ext cx="228600" cy="2286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01250" y="2969895"/>
            <a:ext cx="1616154" cy="28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059"/>
              </a:lnSpc>
              <a:buNone/>
            </a:pPr>
            <a:r>
              <a:rPr lang="en-US" sz="165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Nice-to-Haves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677400" y="3465195"/>
            <a:ext cx="7004876" cy="5526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1635"/>
              </a:lnSpc>
              <a:buNone/>
            </a:pPr>
            <a:r>
              <a:rPr lang="en-US" sz="1275" dirty="0">
                <a:solidFill>
                  <a:srgbClr val="E9E9ED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Longitudinal skill tracking across subjects Early academic-risk analytics Conversational reflective AI interface Gamified mastery milestones</a:t>
            </a:r>
            <a:endParaRPr lang="en-US" sz="12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353B80">
                  <a:alpha val="100000"/>
                </a:srgbClr>
              </a:gs>
              <a:gs pos="60000">
                <a:srgbClr val="262A60">
                  <a:alpha val="100000"/>
                </a:srgbClr>
              </a:gs>
            </a:gsLst>
            <a:path path="circle">
              <a:fillToRect l="85000" t="90000" r="15000" b="1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428750" y="2868930"/>
            <a:ext cx="1697355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1200" spc="168" kern="0" dirty="0">
                <a:solidFill>
                  <a:srgbClr val="9184D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TALK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428750" y="3333750"/>
            <a:ext cx="11772900" cy="156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093"/>
              </a:lnSpc>
              <a:buNone/>
            </a:pPr>
            <a:r>
              <a:rPr lang="en-US" sz="4800" spc="-72" kern="0" dirty="0">
                <a:solidFill>
                  <a:srgbClr val="E9E9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from every mistake — that's the whole idea.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428750" y="5162550"/>
            <a:ext cx="9810750" cy="7086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12"/>
              </a:lnSpc>
              <a:buNone/>
            </a:pPr>
            <a:r>
              <a:rPr lang="en-US" sz="165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Visit our booth for a live walkthrough of the mastery dashboard, or scan the QR code below to book a demo.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428750" y="6370320"/>
            <a:ext cx="1047750" cy="1047750"/>
          </a:xfrm>
          <a:prstGeom prst="roundRect">
            <a:avLst>
              <a:gd name="adj" fmla="val 7273"/>
            </a:avLst>
          </a:prstGeom>
          <a:solidFill>
            <a:srgbClr val="232532"/>
          </a:solidFill>
          <a:ln w="7620">
            <a:solidFill>
              <a:srgbClr val="E6E6EC">
                <a:alpha val="16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704975" y="6646545"/>
            <a:ext cx="495300" cy="495300"/>
          </a:xfrm>
          <a:prstGeom prst="ellipse">
            <a:avLst/>
          </a:prstGeom>
          <a:ln w="7620">
            <a:solidFill>
              <a:srgbClr val="9184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1900" y="6619875"/>
            <a:ext cx="2788093" cy="5867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1350" dirty="0">
                <a:solidFill>
                  <a:srgbClr val="CFD3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Learning Journey Assistant Team La Trobe University · Booth 12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2026-07-29T16:13:35Z</dcterms:created>
  <dcterms:modified xsi:type="dcterms:W3CDTF">2026-07-29T16:13:35Z</dcterms:modified>
</cp:coreProperties>
</file>